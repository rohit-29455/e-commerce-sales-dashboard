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9" r:id="rId5"/>
    <p:sldId id="266" r:id="rId6"/>
    <p:sldId id="262" r:id="rId7"/>
    <p:sldId id="270" r:id="rId8"/>
    <p:sldId id="265" r:id="rId9"/>
    <p:sldId id="260" r:id="rId10"/>
    <p:sldId id="261" r:id="rId11"/>
    <p:sldId id="263" r:id="rId12"/>
    <p:sldId id="264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A02A5C-BE8B-43AE-8DCF-8E293C6D2BCF}" v="3" dt="2026-02-23T15:22:09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C629F-2C0B-4785-8091-CE08AFEE9B2C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576A3-EDE0-40CB-805A-61D17C2CA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199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7C38-26A8-14F0-0634-D77D3AFB6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0066D-3051-A433-9EAC-363E5C158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5806E-B30F-FF84-099D-C41CF2F6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53B12-3B6E-E1D8-F5DF-179508AC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DCEB8-A287-C127-F2E3-485112A1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4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99D2-B0C9-7016-F529-E6844D4C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0EF70-08BC-A816-5F73-79E8BE1B4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261B8-C827-3101-B4C0-345BEB6A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B0D1E-71D9-2408-39A2-CFA14932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EE401-50E0-7926-C144-5735559A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6777-6D99-13E1-87A6-C91AEC20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3851F-F23B-F258-1C10-7E3C4579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03BE7-F173-0725-6BD8-DF414573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78BBB-F3B7-762C-9C02-45192E64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700B4-50D9-9292-25FE-8AD8C109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1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20C8-52B5-A4B3-FED2-DDA13FFE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B8AF9-B8E6-CE6B-2138-43ED760EF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2B677-7118-D677-F61F-17B0C568A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E0B88-807E-D3C2-6F50-03DD2A15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48B33-AC35-F926-E72B-4721DAD7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6F0C4-84F8-F88B-A402-8F7615D5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343B-BA2C-C2A2-8B0D-3CF4BEFD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3123C-940F-5D4E-C777-093BE6DA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E1C04-1DC1-66DD-F575-47F05E564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31DA9-15D9-6492-92FF-2FE656531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C2AB0-C00F-82D0-0B10-F1E4735A4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83EA1-8CEA-3EBF-6AC9-6995792CC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25984-B8DA-CA8C-167A-123E780A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F5995C-24A3-28FF-F9CE-6DBA1602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81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4205-FBDE-1CDE-B6F0-51122683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FCC0D-D8CC-B126-0064-A7C20560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34CBD-7DB5-6531-6BC8-08FB9D00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CD33A-D0E3-F2D3-7469-F730BA1A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0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6717E-44BA-08F4-0F55-4A7EEFC0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95A9F-823F-B0BF-A738-478BDA41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13D7-31BF-DEDA-7FB0-D535BFD2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93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091F-4EB4-236D-A5B7-7297A13C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B58F-D333-41C7-905E-E77247ACA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36852-5DAF-2739-9850-A4FF44E5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00EF-116F-57C8-B447-8A3C1390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0DE43-2484-2AA6-605C-FD8FB048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DF975-476B-1C2B-0924-5E905C5A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4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D2A6-D3DD-5C63-8766-6A824848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85BEC-3328-59EA-BA9C-237DCDDE3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95D9D-51C2-81B2-677C-74E9F53E0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D7F2A-0B1A-4684-DA7F-430CD36B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A1312-FACB-166A-1378-A8E516AC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2F621-8B9B-BC5E-4310-C8DDD2AC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19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C0DA-FD15-FD60-BB6F-7AF5CD3C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A6442-F292-872F-6A54-A67358FFE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23D41-87E2-431F-237A-02D905C4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2FFB-0040-48C4-6BC0-F8175D85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DD366-C6A2-C2A4-BF23-593F71EB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23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566E1-A134-407C-6486-C09E049E7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2D2E5-1AD5-5D8E-C299-FDEADD163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93B7A-B2A0-FE7A-D8D5-1253116C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95C97-8C20-8431-00D1-1DCEB475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E75CC-CAC6-428F-0FDD-309C6A24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76DEC-211C-A809-07C8-987E73BA6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D856B-85F5-80F4-A6B2-E6FC189B1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297A-CA63-5B3E-24E5-06B43BB79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F1F64-30F2-4D7C-B833-6F249FEBB6D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4749D-8DA4-348A-1C26-054F5A41A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433A-91BF-1BC6-1EB4-71FE0CB8F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AEBC7-71B2-4F38-96FB-D6F8E4D2D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50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7DE7-3AFD-FF78-E9F9-6A2A3C38F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883E1-4CF8-C80C-99FC-176F2F1A1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2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DC43-9C1A-883B-8043-ACF22020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12" y="504021"/>
            <a:ext cx="10515600" cy="1325563"/>
          </a:xfrm>
        </p:spPr>
        <p:txBody>
          <a:bodyPr/>
          <a:lstStyle/>
          <a:p>
            <a:r>
              <a:rPr lang="en-US" b="1" u="sng" dirty="0"/>
              <a:t>Problem Statement</a:t>
            </a:r>
            <a:endParaRPr lang="en-IN" b="1"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6C85AC-5032-CD87-1394-4F31829524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380" y="1888959"/>
            <a:ext cx="76097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are good, but profits are low because of too many discounts.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2.Standard shipping is slow, causing delivery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3.Discounts don’t always increase profit, showing overuse in some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1800" dirty="0">
                <a:latin typeface="Arial" panose="020B0604020202020204" pitchFamily="34" charset="0"/>
              </a:rPr>
              <a:t>Office Supplies sell well, but Furniture and Technology are weak.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68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0F305A-3AF1-C7ED-CEAC-D9BA914242DE}"/>
              </a:ext>
            </a:extLst>
          </p:cNvPr>
          <p:cNvSpPr txBox="1"/>
          <p:nvPr/>
        </p:nvSpPr>
        <p:spPr>
          <a:xfrm>
            <a:off x="365268" y="491466"/>
            <a:ext cx="1190244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sz="3200" b="1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Objective</a:t>
            </a:r>
          </a:p>
          <a:p>
            <a:pPr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7D9EB9-6F13-A21C-D621-B3F6E9AFD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85" y="1276296"/>
            <a:ext cx="73404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main sales numbers like revenue, orders, profit, and margins.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sales growth daily, monthly, and yearly to spot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3.Highlight best and worst products with inventory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4.Compare sales and profit across regions, cities, and states.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9B8E0-FAD2-2C42-654C-F5080F41A8E3}"/>
              </a:ext>
            </a:extLst>
          </p:cNvPr>
          <p:cNvSpPr txBox="1"/>
          <p:nvPr/>
        </p:nvSpPr>
        <p:spPr>
          <a:xfrm>
            <a:off x="216309" y="738377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u="sng" dirty="0"/>
              <a:t>Benefits of the Project</a:t>
            </a:r>
          </a:p>
          <a:p>
            <a:pPr>
              <a:buNone/>
            </a:pPr>
            <a:endParaRPr lang="en-US" sz="4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571384-A5FA-83B4-C776-CF489AAAC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13" y="1667697"/>
            <a:ext cx="64684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all business results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best customers, products, and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delivery and pricing with clear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by turning boring reports into easy dashboards.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79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B85F5-753E-933F-1414-979F589552DC}"/>
              </a:ext>
            </a:extLst>
          </p:cNvPr>
          <p:cNvSpPr txBox="1"/>
          <p:nvPr/>
        </p:nvSpPr>
        <p:spPr>
          <a:xfrm>
            <a:off x="353961" y="563940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Who Can Use This Project</a:t>
            </a:r>
          </a:p>
          <a:p>
            <a:pPr>
              <a:buNone/>
            </a:pPr>
            <a:endParaRPr lang="en-US" sz="3200" b="1" u="sng" dirty="0"/>
          </a:p>
          <a:p>
            <a:pPr>
              <a:buNone/>
            </a:pPr>
            <a:endParaRPr lang="en-US" b="1" u="sng" dirty="0"/>
          </a:p>
          <a:p>
            <a:pPr>
              <a:buFont typeface="+mj-lt"/>
              <a:buAutoNum type="arabicPeriod"/>
            </a:pPr>
            <a:r>
              <a:rPr lang="en-US" b="1" dirty="0"/>
              <a:t>Business Managers</a:t>
            </a:r>
            <a:r>
              <a:rPr lang="en-US" dirty="0"/>
              <a:t> – to check overall sales, profit, and growth.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Sales Teams</a:t>
            </a:r>
            <a:r>
              <a:rPr lang="en-US" dirty="0"/>
              <a:t> – to track top customers and improve sales strategy.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Marketing Teams</a:t>
            </a:r>
            <a:r>
              <a:rPr lang="en-US" dirty="0"/>
              <a:t> – to study customer segments and regions for campaigns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Logistics &amp; Supply Chain Teams</a:t>
            </a:r>
            <a:r>
              <a:rPr lang="en-US" dirty="0"/>
              <a:t> – to monitor shipping speed and delivery performance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Finance Teams</a:t>
            </a:r>
            <a:r>
              <a:rPr lang="en-US" dirty="0"/>
              <a:t> – to analyze discounts, profit margins, and category profitability.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2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77A6C3-F29E-E0A7-9000-05D5A759D835}"/>
              </a:ext>
            </a:extLst>
          </p:cNvPr>
          <p:cNvSpPr txBox="1"/>
          <p:nvPr/>
        </p:nvSpPr>
        <p:spPr>
          <a:xfrm>
            <a:off x="344129" y="399840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/>
              <a:t>Data Description 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Dataset Source</a:t>
            </a:r>
            <a:r>
              <a:rPr lang="en-US" dirty="0"/>
              <a:t>: E‑commerce transactional data covering sales, customers, products, shipping, and discounts.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Size</a:t>
            </a:r>
            <a:r>
              <a:rPr lang="en-US" dirty="0"/>
              <a:t>:column-23 and row-113270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Derived</a:t>
            </a:r>
            <a:r>
              <a:rPr lang="en-US" dirty="0"/>
              <a:t>: Total Sales, Total Profit, Total Orders, Average Order Value, Profit per Order, Shipment Days.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Granularity</a:t>
            </a:r>
            <a:r>
              <a:rPr lang="en-US" dirty="0"/>
              <a:t>: Transaction‑level data aggregated into monthly, category, and segment views.</a:t>
            </a:r>
          </a:p>
        </p:txBody>
      </p:sp>
    </p:spTree>
    <p:extLst>
      <p:ext uri="{BB962C8B-B14F-4D97-AF65-F5344CB8AC3E}">
        <p14:creationId xmlns:p14="http://schemas.microsoft.com/office/powerpoint/2010/main" val="195194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93E6DF-FA9D-F03B-9877-9AAFD0EFE78A}"/>
              </a:ext>
            </a:extLst>
          </p:cNvPr>
          <p:cNvSpPr txBox="1"/>
          <p:nvPr/>
        </p:nvSpPr>
        <p:spPr>
          <a:xfrm>
            <a:off x="324464" y="740446"/>
            <a:ext cx="6096000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profit = </a:t>
            </a:r>
            <a:r>
              <a:rPr lang="en-IN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ecommerce_data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profit_per_order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36CC2-0ED6-B5E6-1B33-6A7103153D7F}"/>
              </a:ext>
            </a:extLst>
          </p:cNvPr>
          <p:cNvSpPr txBox="1"/>
          <p:nvPr/>
        </p:nvSpPr>
        <p:spPr>
          <a:xfrm>
            <a:off x="324464" y="1527026"/>
            <a:ext cx="6096000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sales = </a:t>
            </a:r>
            <a:r>
              <a:rPr lang="en-US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ecommerce_data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sales_per_order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442F1-5DF0-0ACA-E5DC-B8E1F57BEC6A}"/>
              </a:ext>
            </a:extLst>
          </p:cNvPr>
          <p:cNvSpPr txBox="1"/>
          <p:nvPr/>
        </p:nvSpPr>
        <p:spPr>
          <a:xfrm>
            <a:off x="108155" y="2413207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order = </a:t>
            </a:r>
            <a:r>
              <a:rPr lang="en-US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ecommerce_data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order_id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C42F7-5CDD-7776-AB26-FC6EFB5382CC}"/>
              </a:ext>
            </a:extLst>
          </p:cNvPr>
          <p:cNvSpPr txBox="1"/>
          <p:nvPr/>
        </p:nvSpPr>
        <p:spPr>
          <a:xfrm>
            <a:off x="108155" y="2963103"/>
            <a:ext cx="6096000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discount = </a:t>
            </a:r>
            <a:r>
              <a:rPr lang="en-US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ecommerce_data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order_item_discount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B4B8E-27C1-3F81-07C4-44DD518B6E38}"/>
              </a:ext>
            </a:extLst>
          </p:cNvPr>
          <p:cNvSpPr txBox="1"/>
          <p:nvPr/>
        </p:nvSpPr>
        <p:spPr>
          <a:xfrm>
            <a:off x="255638" y="3906431"/>
            <a:ext cx="6096000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order value = </a:t>
            </a:r>
            <a:r>
              <a:rPr lang="en-US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ecommerce_data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profit_per_order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488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EA4540-A376-DC6B-4C9A-43730AA95E92}"/>
              </a:ext>
            </a:extLst>
          </p:cNvPr>
          <p:cNvSpPr txBox="1"/>
          <p:nvPr/>
        </p:nvSpPr>
        <p:spPr>
          <a:xfrm>
            <a:off x="314632" y="53105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Data Processing Steps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Collection</a:t>
            </a:r>
            <a:r>
              <a:rPr lang="en-US" dirty="0"/>
              <a:t> – Gather raw e‑commerce data (sales, customers, products, shipping, discounts).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Cleaning</a:t>
            </a:r>
            <a:r>
              <a:rPr lang="en-US" dirty="0"/>
              <a:t> – Remove duplicates, fix missing values, and correct errors.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Transformation</a:t>
            </a:r>
            <a:r>
              <a:rPr lang="en-US" dirty="0"/>
              <a:t> – Convert formats, standardize categories, and create calculated fields.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DAX Measures</a:t>
            </a:r>
            <a:r>
              <a:rPr lang="en-US" dirty="0"/>
              <a:t> – Create KPIs like Total Sales, Profit, Average Order Value, Shipment Days.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Aggregation</a:t>
            </a:r>
            <a:r>
              <a:rPr lang="en-US" dirty="0"/>
              <a:t> – Summarize data by month, category, segment, and region for analysis.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Dashboard Integration</a:t>
            </a:r>
            <a:r>
              <a:rPr lang="en-US" dirty="0"/>
              <a:t> – Load processed data into Power BI and design interactive charts.</a:t>
            </a:r>
          </a:p>
        </p:txBody>
      </p:sp>
    </p:spTree>
    <p:extLst>
      <p:ext uri="{BB962C8B-B14F-4D97-AF65-F5344CB8AC3E}">
        <p14:creationId xmlns:p14="http://schemas.microsoft.com/office/powerpoint/2010/main" val="367006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E3EE7-08F9-9B8F-7CF3-1488FDFFBCF5}"/>
              </a:ext>
            </a:extLst>
          </p:cNvPr>
          <p:cNvSpPr txBox="1"/>
          <p:nvPr/>
        </p:nvSpPr>
        <p:spPr>
          <a:xfrm>
            <a:off x="98322" y="271681"/>
            <a:ext cx="74725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Sales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crossed 231M with steady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July and October were best months.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December showed lowest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Orders reached 113K with average value 23.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spread across regions, mostly North America.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👥 Customer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Consumer segment is largest (52%).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Corporate and Home Office follow behind.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Few customers drive high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customer gave ~375 in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base spread across major US cities.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📦 Product &amp; Category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Office Supplies lead in sales and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Furniture and Technology contribute less.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Staple products bring highest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Consumer segment buys the most.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trend rising across 2021–2022.</a:t>
            </a:r>
          </a:p>
        </p:txBody>
      </p:sp>
    </p:spTree>
    <p:extLst>
      <p:ext uri="{BB962C8B-B14F-4D97-AF65-F5344CB8AC3E}">
        <p14:creationId xmlns:p14="http://schemas.microsoft.com/office/powerpoint/2010/main" val="151325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33042-0A8B-C928-D00C-4E9FA3895590}"/>
              </a:ext>
            </a:extLst>
          </p:cNvPr>
          <p:cNvSpPr txBox="1"/>
          <p:nvPr/>
        </p:nvSpPr>
        <p:spPr>
          <a:xfrm>
            <a:off x="373626" y="35576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🚚 Shipping &amp;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count far above target.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Class used most but slowest.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Day shipping is least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Scatter shows shipping delays vary by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shipments are high but uneven.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💰 Discount &amp;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Office Supplies give maximum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Furniture and Technology profit is smaller.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Discounts peak mid‑year (Apr–Aug).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discounts reduce monthly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trend aligns with category strength.</a:t>
            </a:r>
          </a:p>
          <a:p>
            <a:pPr>
              <a:buNone/>
            </a:pPr>
            <a:r>
              <a:rPr lang="en-US" dirty="0"/>
              <a:t>This way, each page has </a:t>
            </a:r>
            <a:r>
              <a:rPr lang="en-US" b="1" dirty="0"/>
              <a:t>5 crisp insights in easy </a:t>
            </a:r>
            <a:r>
              <a:rPr lang="en-US" b="1" dirty="0" err="1"/>
              <a:t>wor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99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2E0223-0C7F-11AF-4D72-697968E3EE1E}"/>
              </a:ext>
            </a:extLst>
          </p:cNvPr>
          <p:cNvSpPr txBox="1"/>
          <p:nvPr/>
        </p:nvSpPr>
        <p:spPr>
          <a:xfrm>
            <a:off x="265470" y="137651"/>
            <a:ext cx="881953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Sales Overview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Sales by Month (Line Chart)</a:t>
            </a:r>
            <a:r>
              <a:rPr lang="en-US" dirty="0"/>
              <a:t> – shows how sales change month by month, with peaks in July and October.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Region (Map Chart)</a:t>
            </a:r>
            <a:r>
              <a:rPr lang="en-US" dirty="0"/>
              <a:t> – shows where most customers are located across regions.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👥 Customer Insights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Sales by Customer ID (Bar Chart)</a:t>
            </a:r>
            <a:r>
              <a:rPr lang="en-US" dirty="0"/>
              <a:t> – highlights which customers spend the most.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Segments Distribution (Pie Chart)</a:t>
            </a:r>
            <a:r>
              <a:rPr lang="en-US" dirty="0"/>
              <a:t> – shows share of Consumer, Corporate, and Home Office customers.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📦 Product &amp; Category Analysis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by Category (Bar Chart)</a:t>
            </a:r>
            <a:r>
              <a:rPr lang="en-US" dirty="0"/>
              <a:t> – compares sales across Office Supplies, Furniture, and Technology.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Products by Profit (Bar Chart)</a:t>
            </a:r>
            <a:r>
              <a:rPr lang="en-US" dirty="0"/>
              <a:t> – lists products that bring the highest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Category vs Segment Sales (Table)</a:t>
            </a:r>
            <a:r>
              <a:rPr lang="en-US" dirty="0"/>
              <a:t> – shows sales split by category and customer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Sales by Year &amp; Product (Line Chart)</a:t>
            </a:r>
            <a:r>
              <a:rPr lang="en-US" dirty="0"/>
              <a:t> – tracks product sales growth across years.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🚚 Shipping &amp; Delivery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Delivery Status vs Target (Gauge Chart)</a:t>
            </a:r>
            <a:r>
              <a:rPr lang="en-US" dirty="0"/>
              <a:t> – compares actual deliveries with target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Average Shipment Days per Type (Bar Chart)</a:t>
            </a:r>
            <a:r>
              <a:rPr lang="en-US" dirty="0"/>
              <a:t> – shows how long each shipping type takes.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82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5D7AA-B65D-5EC6-123D-9BE4CF4DB3C6}"/>
              </a:ext>
            </a:extLst>
          </p:cNvPr>
          <p:cNvSpPr txBox="1"/>
          <p:nvPr/>
        </p:nvSpPr>
        <p:spPr>
          <a:xfrm>
            <a:off x="137652" y="16895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Shipment Days vs Orders (Scatter Plot)</a:t>
            </a:r>
            <a:r>
              <a:rPr lang="en-US" dirty="0"/>
              <a:t> – compares planned vs real shipment days by shipping type.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💰 Discount &amp; Profitability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Profit by Category (Bar Chart)</a:t>
            </a:r>
            <a:r>
              <a:rPr lang="en-US" dirty="0"/>
              <a:t> – shows which category earns the most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Profit &amp; Discounts by Month (Bar Chart)</a:t>
            </a:r>
            <a:r>
              <a:rPr lang="en-US" dirty="0"/>
              <a:t> – compares monthly profit with discount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Trend of Discounts Over Time (Line Chart)</a:t>
            </a:r>
            <a:r>
              <a:rPr lang="en-US" dirty="0"/>
              <a:t> – shows how discounts change month by month.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Profit per Order by Category (Bar Chart)</a:t>
            </a:r>
            <a:r>
              <a:rPr lang="en-US" dirty="0"/>
              <a:t> – compares profit per order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10824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B39CB-0530-42D5-ACDE-FBFF84D24B94}"/>
              </a:ext>
            </a:extLst>
          </p:cNvPr>
          <p:cNvSpPr txBox="1"/>
          <p:nvPr/>
        </p:nvSpPr>
        <p:spPr>
          <a:xfrm>
            <a:off x="265472" y="799067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Future Enhancement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DDA23C-A77B-A09F-35DC-23DDD68E6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72" y="24777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smart AI tools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future sales and profits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customers better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segmentation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shipping delays or low profits.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filters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connect live data for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dashboards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mobile-friendly with visuals and global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085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069E61-9F46-2BFB-CF71-0205B6BABA8D}"/>
              </a:ext>
            </a:extLst>
          </p:cNvPr>
          <p:cNvSpPr txBox="1"/>
          <p:nvPr/>
        </p:nvSpPr>
        <p:spPr>
          <a:xfrm>
            <a:off x="462116" y="455786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/>
              <a:t>Conclusion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dashboard gives a clear view of sales, customers, products, shipping, and discounts.</a:t>
            </a:r>
          </a:p>
          <a:p>
            <a:pPr>
              <a:buFont typeface="+mj-lt"/>
              <a:buAutoNum type="arabicPeriod"/>
            </a:pPr>
            <a:r>
              <a:rPr lang="en-US" dirty="0"/>
              <a:t>It helps managers and teams make quick, data‑based decisions.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Office Supplies and Consumer segment are the biggest drivers of profit.</a:t>
            </a:r>
          </a:p>
          <a:p>
            <a:pPr>
              <a:buFont typeface="+mj-lt"/>
              <a:buAutoNum type="arabicPeriod"/>
            </a:pPr>
            <a:r>
              <a:rPr lang="en-US" dirty="0"/>
              <a:t>Shipping insights show where delivery speed can be improved.</a:t>
            </a:r>
          </a:p>
          <a:p>
            <a:pPr>
              <a:buFont typeface="+mj-lt"/>
              <a:buAutoNum type="arabicPeriod"/>
            </a:pPr>
            <a:r>
              <a:rPr lang="en-US" dirty="0"/>
              <a:t>Overall, the project makes business performance easy to understand and act on.</a:t>
            </a:r>
          </a:p>
        </p:txBody>
      </p:sp>
    </p:spTree>
    <p:extLst>
      <p:ext uri="{BB962C8B-B14F-4D97-AF65-F5344CB8AC3E}">
        <p14:creationId xmlns:p14="http://schemas.microsoft.com/office/powerpoint/2010/main" val="1166452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1069</Words>
  <Application>Microsoft Office PowerPoint</Application>
  <PresentationFormat>Widescreen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Office Theme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Prajapati</dc:creator>
  <cp:lastModifiedBy>Rohit Prajapati</cp:lastModifiedBy>
  <cp:revision>2</cp:revision>
  <dcterms:created xsi:type="dcterms:W3CDTF">2026-01-28T04:51:36Z</dcterms:created>
  <dcterms:modified xsi:type="dcterms:W3CDTF">2026-02-24T03:52:28Z</dcterms:modified>
</cp:coreProperties>
</file>